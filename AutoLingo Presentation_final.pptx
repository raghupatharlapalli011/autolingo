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  <p:embeddedFont>
      <p:font typeface="Urbanist ExtraBold" panose="020B0604020202020204" charset="0"/>
      <p:bold r:id="rId19"/>
      <p:boldItalic r:id="rId20"/>
    </p:embeddedFont>
    <p:embeddedFont>
      <p:font typeface="Urbanist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jp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6.png"/><Relationship Id="rId5" Type="http://schemas.openxmlformats.org/officeDocument/2006/relationships/image" Target="../media/image6.png"/><Relationship Id="rId10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559457" y="2267103"/>
            <a:ext cx="5073084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0" i="0" u="none" strike="noStrike" cap="none" dirty="0" err="1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Auto</a:t>
            </a:r>
            <a:r>
              <a:rPr lang="en-US" sz="6750" b="0" i="0" u="none" strike="noStrike" cap="none" dirty="0" err="1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Lingo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551470" y="3552673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 AI-Powered Smart Text Autocomplete Engine Designed for Context-Aware Sequential Text Generation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859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04875" y="1638300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Context-Awareness: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Modern apps require fast, intelligent autocomplete to maximize user typing speed and experience.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04875" y="2819400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Bottleneck: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Real-world text (e.g., raw web scraping) is inherently noisy and unstructured, hindering model learning.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4000500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High Costs: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Manual data labeling for training deep learning models is highly resource-intensive and expensive.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5181600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AutoLingo Solution: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 end-to-end pipeline handling everything from automated data cleaning to real-time model inference.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4954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Problem &amp; </a:t>
            </a:r>
            <a:r>
              <a:rPr lang="en-US" sz="34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Solution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65735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3845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1955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200650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200864" y="2686050"/>
            <a:ext cx="21702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Traditional Models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18135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Early autocomplete systems relied heavily on N-gram models and statistical frequencies, which severely struggle with understanding long-range context.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375910" y="2686050"/>
            <a:ext cx="14401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Classical ML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76775" y="318135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Algorithms like KNN and Decision Trees can be adapted for text classification but frequently face the 'curse of dimensionality' with sparse text data.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050893" y="2686050"/>
            <a:ext cx="171021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Deep Learning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86775" y="318135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Dense embeddings and neural architectures (PyTorch Linear Models, Transformers) have revolutionized NLP by capturing complex semantic relationships.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2162" y="1905000"/>
            <a:ext cx="447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72162" y="1905000"/>
            <a:ext cx="447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2150" y="1905000"/>
            <a:ext cx="6477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Evolution of </a:t>
            </a:r>
            <a:r>
              <a:rPr lang="en-US" sz="34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NLP Models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300876" y="2686050"/>
            <a:ext cx="197024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Bottlenecks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66775" y="318135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There is a distinct lack of accessible, automated semi-supervised data cleaning pipelines tailored for building bespoke autocomplete engines without annotation overhead.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810839" y="2686050"/>
            <a:ext cx="257032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Holistic Benchmarking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76775" y="318135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Limited platforms offer direct, side-by-side comparisons of deep learning models versus traditional ML baselines (Random Forest, KNN) in real-time text generation.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670845" y="2686050"/>
            <a:ext cx="247030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Resource Forecasting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86775" y="318135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Difficulty remains in accurately predicting a model's training latency and validation loss based on architectural hyperparameters prior to committing compute resources.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2162" y="1905000"/>
            <a:ext cx="447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825" y="1905000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2162" y="1905000"/>
            <a:ext cx="44767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Identifying </a:t>
            </a:r>
            <a:r>
              <a:rPr lang="en-US" sz="34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Research Gaps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571500" y="386715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507968" y="421957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Ingestion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4610100"/>
            <a:ext cx="254124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Raw text is processed, and semi-supervised Label Propagation filters out junk to yield a pristine corpus.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3343888" y="219075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Core ML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3407419" y="2581275"/>
            <a:ext cx="254124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Cleaned data flows into parallel training tracks: PyTorch TextPredictor versus Classical scikit-learn classifiers.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179808" y="421957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Benchmarking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243339" y="4610100"/>
            <a:ext cx="254124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Outputs are thoroughly evaluated, and Polynomial Regression models are fitted to forecast performance latency.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015728" y="2433637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4. Deployment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079259" y="2824162"/>
            <a:ext cx="254124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FastAPI backend serves trained models to an interactive Web UI for real-time user validation.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End-to-End </a:t>
            </a:r>
            <a:r>
              <a:rPr lang="en-US" sz="34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1727820" y="3771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563740" y="3771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399659" y="3771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10235579" y="3771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85900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4859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848201" y="1971675"/>
            <a:ext cx="478059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PyTorch Neural Network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563201" y="1971675"/>
            <a:ext cx="478059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Traditional ML Baselines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295400" y="2609850"/>
            <a:ext cx="42195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Utilizes dense position embeddings coupled with hidden linear transformation layers.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295400" y="3343275"/>
            <a:ext cx="42195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Optimized via Cross-Entropy Loss to maximize precise sequential character prediction.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295400" y="4076700"/>
            <a:ext cx="42195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Employs the highly efficient AdamW optimizer for rapid and stable model convergence.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010400" y="2609850"/>
            <a:ext cx="42195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Context sliding windows are strictly encoded as flat, sparse one-hot vectors.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010400" y="3343275"/>
            <a:ext cx="42195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Leverages standard robust scikit-learn baseline classifiers for comparison.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010400" y="4076700"/>
            <a:ext cx="42195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Evaluates established algorithms including KNN, Decision Trees, and Logistic Regression.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ML </a:t>
            </a:r>
            <a:r>
              <a:rPr lang="en-US" sz="34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Engines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2890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36232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09575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262890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336232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095750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71500" y="571500"/>
            <a:ext cx="52006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Support </a:t>
            </a:r>
            <a:r>
              <a:rPr lang="en-US" sz="34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Systems</a:t>
            </a:r>
            <a:endParaRPr/>
          </a:p>
        </p:txBody>
      </p:sp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050" y="0"/>
            <a:ext cx="60769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71500" y="2085975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Sanitizer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25908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Character-level n-gram frequency matrices are combined with Label Propagation algorithms to automatically classify raw sentences as high-quality or noise.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3886200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Performance Regressor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43910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Linear and Polynomial Regression models are dynamically trained on historical system logs to accurately forecast execution time based on hyperparameters.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1524000" y="1485900"/>
            <a:ext cx="981075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Superior Context-Awareness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PyTorch Embedding-to-Linear model consistently demonstrated superior context understanding and lower Cross-Entropy loss over all traditional ML baselines.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524000" y="2895600"/>
            <a:ext cx="981075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 of Data Quality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Implementing Tri-Training and Label Propagation successfully heightened the signal-to-noise ratio in the corpus, directly leading to much faster model convergence.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524000" y="4305300"/>
            <a:ext cx="981075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Accurate Forecasting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Polynomial Regression forecaster accurately predicted training latency for scaled model sizes, allowing for highly optimized hyperparameter tuning routines.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524000" y="5715000"/>
            <a:ext cx="981075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Real-Time API Execution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deployed dashboard handles concurrent prediction requests seamlessly, visually contrasting neural predictions against classical outputs in real-time.</a:t>
            </a:r>
            <a:endParaRPr/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1481137"/>
            <a:ext cx="4286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890837"/>
            <a:ext cx="3429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4300537"/>
            <a:ext cx="3905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5710237"/>
            <a:ext cx="3429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lang="en-US" sz="34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Performance Results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1733550"/>
            <a:ext cx="29337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9150" y="1733550"/>
            <a:ext cx="29337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9">
            <a:alphaModFix/>
          </a:blip>
          <a:srcRect t="1607" b="1607"/>
          <a:stretch/>
        </p:blipFill>
        <p:spPr>
          <a:xfrm>
            <a:off x="8439150" y="1733550"/>
            <a:ext cx="29337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745807" y="3876675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Automated Pipeline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19150" y="4295775"/>
            <a:ext cx="29337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Successfully automated the notoriously tedious data cleaning process using advanced semi-supervised learning techniques.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4555807" y="3876675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Neural Superiority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629150" y="4295775"/>
            <a:ext cx="29337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Clearly demonstrated that deep neural embedding approaches yield vastly more cohesive and logical autocomplete suggestions.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365807" y="3876675"/>
            <a:ext cx="30804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Live Deployment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439150" y="4295775"/>
            <a:ext cx="29337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Built a comprehensive benchmarking suite, culminating in a live, interactive API dashboard that brings the research to life.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1733550"/>
            <a:ext cx="29337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29150" y="1733550"/>
            <a:ext cx="29337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72550" y="1733550"/>
            <a:ext cx="18669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lang="en-US" sz="34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pic>
        <p:nvPicPr>
          <p:cNvPr id="226" name="Google Shape;226;p21" descr="Live Deployment :Built a comprehensive benchmarking suite, culminating in a live, interactive API dashboard that brings the research to"/>
          <p:cNvPicPr preferRelativeResize="0"/>
          <p:nvPr/>
        </p:nvPicPr>
        <p:blipFill rotWithShape="1">
          <a:blip r:embed="rId13">
            <a:alphaModFix/>
          </a:blip>
          <a:srcRect l="-114278" t="145639" r="110812" b="-143852"/>
          <a:stretch/>
        </p:blipFill>
        <p:spPr>
          <a:xfrm>
            <a:off x="6411450" y="4295775"/>
            <a:ext cx="21229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485900"/>
            <a:ext cx="342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925829" y="2686050"/>
            <a:ext cx="27203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Architectural Upgrades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66775" y="3181350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Transitioning the core engine to incorporate full Transformer Blocks (Attention mechanisms) to vastly improve long-term context retention.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745831" y="2686050"/>
            <a:ext cx="27003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Tokenization Advances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676775" y="318135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Shifting from character-level prediction to sub-word (BPE) or word-level tokenization for significantly faster inference and vocabulary handling.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815863" y="2686050"/>
            <a:ext cx="218027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Cloud Deployment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486775" y="318135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Containerizing the ecosystem with Docker and migrating deployment to scalable cloud infrastructure (AWS/GCP) to enable global load balancing.</a:t>
            </a:r>
            <a:endParaRPr/>
          </a:p>
        </p:txBody>
      </p:sp>
      <p:pic>
        <p:nvPicPr>
          <p:cNvPr id="241" name="Google Shape;24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8825" y="1905000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72150" y="1905000"/>
            <a:ext cx="6477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2150" y="1905000"/>
            <a:ext cx="6477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Future </a:t>
            </a:r>
            <a:r>
              <a:rPr lang="en-US" sz="34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Scope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/>
          <p:nvPr/>
        </p:nvSpPr>
        <p:spPr>
          <a:xfrm>
            <a:off x="5524500" y="1647825"/>
            <a:ext cx="11430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4505801" y="1981200"/>
            <a:ext cx="3180397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References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1809750" y="3095625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PyTorch Documentation for Deep Learning Frameworks and Architectures.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809750" y="3552825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Scikit-Learn: Machine Learning in Python (Pedregosa et al., 2011).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1809750" y="4010025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Learning from labeled and unlabeled data with label propagation. (Xiaojin Zhu and Zoubin Ghahramani, 2002).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1809750" y="4752975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4.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Tri-training: Exploiting unlabeled data using three classifiers. (Zhi-Hua Zhou and Ming Li, IEEE Transactions on Knowledge and Data Engineering, 2005).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/>
          <p:nvPr/>
        </p:nvSpPr>
        <p:spPr>
          <a:xfrm>
            <a:off x="571500" y="14859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571500" y="22574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571500" y="30289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571500" y="38004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571500" y="2247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571500" y="2247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571500" y="3019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571500" y="3019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571500" y="37909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571500" y="37909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571500" y="4562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571500" y="4562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28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1666875" y="1681162"/>
            <a:ext cx="99536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https://images.splitshire.com/full/The-Backside-View-of-a-Man-Using-Laptop_8R1x6.png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1666875" y="1871662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www.splitshire.com</a:t>
            </a:r>
            <a:endParaRPr/>
          </a:p>
        </p:txBody>
      </p:sp>
      <p:pic>
        <p:nvPicPr>
          <p:cNvPr id="276" name="Google Shape;27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00300"/>
            <a:ext cx="1752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1666875" y="2452687"/>
            <a:ext cx="99536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https://images.presentationgo.com/2025/04/abstract-neural-network-background.png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1666875" y="2643187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www.presentationgo.com</a:t>
            </a:r>
            <a:endParaRPr/>
          </a:p>
        </p:txBody>
      </p:sp>
      <p:pic>
        <p:nvPicPr>
          <p:cNvPr id="279" name="Google Shape;27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71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1666875" y="3224212"/>
            <a:ext cx="99536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https://media.easy-peasy.ai/bfd831df-caa3-4570-9a36-244747e25de9/dc908460-298d-4824-833e-31eb551f071e_medium.webp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1666875" y="3414712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easy-peasy.ai</a:t>
            </a:r>
            <a:endParaRPr/>
          </a:p>
        </p:txBody>
      </p:sp>
      <p:pic>
        <p:nvPicPr>
          <p:cNvPr id="282" name="Google Shape;28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433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1666875" y="3995737"/>
            <a:ext cx="99536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https://images.stockcake.com/public/a/7/1/a7132125-dcf1-49e0-b242-5369620ae1cb_large/digital-brain-concept-stockcake.jpg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1666875" y="4186237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stockcake.com</a:t>
            </a:r>
            <a:endParaRPr/>
          </a:p>
        </p:txBody>
      </p:sp>
      <p:pic>
        <p:nvPicPr>
          <p:cNvPr id="285" name="Google Shape;28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7148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 txBox="1"/>
          <p:nvPr/>
        </p:nvSpPr>
        <p:spPr>
          <a:xfrm>
            <a:off x="1666875" y="4767262"/>
            <a:ext cx="99536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https://www.codester.com/static/uploads/items/000/056/56392/preview.jpg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1666875" y="4957762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www.codester.com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Microsoft Office PowerPoint</Application>
  <PresentationFormat>Widescreen</PresentationFormat>
  <Paragraphs>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Urbanist SemiBold</vt:lpstr>
      <vt:lpstr>Calibri</vt:lpstr>
      <vt:lpstr>Urbanist ExtraBold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Patharlapalli Raghu</cp:lastModifiedBy>
  <cp:revision>1</cp:revision>
  <dcterms:modified xsi:type="dcterms:W3CDTF">2026-09-17T12:34:45Z</dcterms:modified>
</cp:coreProperties>
</file>